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E2042-9635-AD96-BC20-3EB63DBF0C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7DA71D-7F51-C8AC-1A7F-7730D4B59D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627FA-3E99-CAA7-5744-940C5FCC7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E46AA-D6DA-4CA4-8297-EAFC65485042}" type="datetimeFigureOut">
              <a:rPr lang="pl-PL" smtClean="0"/>
              <a:t>4.08.2025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1F5A99-C221-89DF-6B18-240C62992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E9939A-65CD-726A-1446-65E92FFF1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8F56A-402C-4161-A5B1-4FE2099091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58188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E9080-7367-EA26-8D32-385235B18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4EE6F-A64B-B092-7379-E16D9B4A71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FD765-0EE8-AAF5-1DD2-FF1C0EA72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E46AA-D6DA-4CA4-8297-EAFC65485042}" type="datetimeFigureOut">
              <a:rPr lang="pl-PL" smtClean="0"/>
              <a:t>4.08.2025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C0F5EF-55EC-454B-B3CB-47BA0668B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EFEDBD-9E92-4587-966C-57290E9E3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8F56A-402C-4161-A5B1-4FE2099091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98654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8792A-F6EB-0DBF-82C7-9A1A07F39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30837C-D4C8-D273-7637-3A355A177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A9FBDA-5425-F82F-20EA-7BDBE4778F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E46AA-D6DA-4CA4-8297-EAFC65485042}" type="datetimeFigureOut">
              <a:rPr lang="pl-PL" smtClean="0"/>
              <a:t>4.08.2025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656D26-39FB-4572-37BD-23327EF89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F57B7-A0C5-A433-B4E5-49006E8F0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8F56A-402C-4161-A5B1-4FE2099091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16692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F103F-8DD6-5E3A-15CC-0AB55D394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79A7EB-F191-520F-F148-63ACD7A94C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C440E8-6FA7-AC3E-34A9-1352D1C3A0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5566D3-DA26-9FF0-7331-CE0B43ED9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E46AA-D6DA-4CA4-8297-EAFC65485042}" type="datetimeFigureOut">
              <a:rPr lang="pl-PL" smtClean="0"/>
              <a:t>4.08.2025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B4237A-E12B-534F-E8CA-146C9D623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82B3E4-2804-0F66-B1F9-E2C444163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8F56A-402C-4161-A5B1-4FE2099091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560832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62CE9-DA74-285E-A7C0-071F8A463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5BFB-498E-8DAC-94F8-F21C059F0D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1A6E66-8493-3A46-53E6-E69FB39CD9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1CE751-F182-B843-87BE-D03AB6E616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F2587C-36A1-CA01-FE04-908EB6BF45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0DE2D8-4E9B-0BF2-81FE-0FAC87750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E46AA-D6DA-4CA4-8297-EAFC65485042}" type="datetimeFigureOut">
              <a:rPr lang="pl-PL" smtClean="0"/>
              <a:t>4.08.2025</a:t>
            </a:fld>
            <a:endParaRPr lang="pl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006739-E402-3C3B-4FE3-AFB96E351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1A7CBB-91E3-5C6B-C3BA-988A335CB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8F56A-402C-4161-A5B1-4FE2099091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35324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00A4B-FA18-E89F-D958-8A74D4A68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D67455-FCC0-C5C4-ED64-0E7DF3F29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E46AA-D6DA-4CA4-8297-EAFC65485042}" type="datetimeFigureOut">
              <a:rPr lang="pl-PL" smtClean="0"/>
              <a:t>4.08.2025</a:t>
            </a:fld>
            <a:endParaRPr lang="pl-P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CB6E85-E45C-6A95-4552-BAF73C0C1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9D8DF-7AA7-2951-4C3C-31757F98E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8F56A-402C-4161-A5B1-4FE2099091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553580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C22D70-E77B-379D-2FA2-22F78F209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E46AA-D6DA-4CA4-8297-EAFC65485042}" type="datetimeFigureOut">
              <a:rPr lang="pl-PL" smtClean="0"/>
              <a:t>4.08.2025</a:t>
            </a:fld>
            <a:endParaRPr lang="pl-P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9ECB07-BEEA-ECAE-7595-8C76DD2F6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377B2-4807-D98F-4BB3-81084D774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8F56A-402C-4161-A5B1-4FE2099091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41323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8F23D-8D50-BEF9-F37E-0E451732E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2E7E7-1134-1615-992D-8C60AC1C2D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9D188E-EEC5-AC05-67D6-A12F2B66F8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9BCBC-35AC-0180-FA7A-962B17C7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E46AA-D6DA-4CA4-8297-EAFC65485042}" type="datetimeFigureOut">
              <a:rPr lang="pl-PL" smtClean="0"/>
              <a:t>4.08.2025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863ADB-4C4C-96B4-BEB4-D64FE0917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B39458-4E21-CDC0-61A0-8EAB65BDC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8F56A-402C-4161-A5B1-4FE2099091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46869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1B74A-4123-7453-9874-DBD9A216A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65528A-9984-B4DF-9CCA-36ABDE665E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B430F1-0845-46E3-6B41-EEB3AC983C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0023E3-95A9-CE03-1E13-061920660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E46AA-D6DA-4CA4-8297-EAFC65485042}" type="datetimeFigureOut">
              <a:rPr lang="pl-PL" smtClean="0"/>
              <a:t>4.08.2025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F8F474-30A2-5D7F-D966-31AD3CE2F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02A9CD-E172-D190-89F5-DF83C1AB2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8F56A-402C-4161-A5B1-4FE2099091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65084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2F39E-B74C-029D-D95F-378803592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D65C84-D48C-CE99-F842-31B6111DF3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38AF57-63A3-5340-7EBC-3B05FD589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E46AA-D6DA-4CA4-8297-EAFC65485042}" type="datetimeFigureOut">
              <a:rPr lang="pl-PL" smtClean="0"/>
              <a:t>4.08.2025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FE5B77-BB91-671D-591E-267269F6F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BCA680-7DC8-5CFF-96F8-620591B75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8F56A-402C-4161-A5B1-4FE2099091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705685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1B6216-96BD-8909-9BE2-CF6D70F930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6EBFF5-CCEE-044E-318E-C28D7EE0AB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FC0A11-3FFF-78CB-9A62-A76CB1E25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E46AA-D6DA-4CA4-8297-EAFC65485042}" type="datetimeFigureOut">
              <a:rPr lang="pl-PL" smtClean="0"/>
              <a:t>4.08.2025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FCDB7-36B4-B107-CB16-ABE8A8E1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35F7D-3DA3-6F01-7FC0-E893E204D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8F56A-402C-4161-A5B1-4FE2099091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37523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648581-C7CB-DFAB-4729-416E418B4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C86661-2AD0-264D-69B4-CD4D31852A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8CDF1-1A38-3B76-07CA-09C6EC3DB3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BE46AA-D6DA-4CA4-8297-EAFC65485042}" type="datetimeFigureOut">
              <a:rPr lang="pl-PL" smtClean="0"/>
              <a:t>4.08.2025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9EFD34-D060-EB17-197A-14557F254D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F1F95-582C-2F19-3FBF-6DD63B0CC0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08F56A-402C-4161-A5B1-4FE20990915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18109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4CCC1-8A77-0C24-1364-661193A42A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Bank </a:t>
            </a:r>
            <a:r>
              <a:rPr lang="pl-PL" dirty="0" err="1"/>
              <a:t>project</a:t>
            </a:r>
            <a:endParaRPr lang="pl-P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09F7C-58D0-FAAC-931C-628C222816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297220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B555A-D84D-6300-0D85-1CFD7FEC7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57221"/>
          </a:xfrm>
        </p:spPr>
        <p:txBody>
          <a:bodyPr>
            <a:normAutofit fontScale="90000"/>
          </a:bodyPr>
          <a:lstStyle/>
          <a:p>
            <a:r>
              <a:rPr lang="pl-PL" dirty="0" err="1"/>
              <a:t>Schema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FB5EC8-BA79-E706-12C7-693C16960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06454"/>
            <a:ext cx="10515600" cy="5170509"/>
          </a:xfrm>
        </p:spPr>
        <p:txBody>
          <a:bodyPr/>
          <a:lstStyle/>
          <a:p>
            <a:r>
              <a:rPr lang="pl-PL" dirty="0" err="1"/>
              <a:t>Phase</a:t>
            </a:r>
            <a:r>
              <a:rPr lang="pl-PL" dirty="0"/>
              <a:t> 0 – </a:t>
            </a:r>
            <a:r>
              <a:rPr lang="pl-PL" dirty="0" err="1"/>
              <a:t>Balance</a:t>
            </a:r>
            <a:r>
              <a:rPr lang="pl-PL" dirty="0"/>
              <a:t> </a:t>
            </a:r>
            <a:r>
              <a:rPr lang="pl-PL" dirty="0" err="1"/>
              <a:t>Sheet</a:t>
            </a:r>
            <a:r>
              <a:rPr lang="pl-PL" dirty="0"/>
              <a:t> </a:t>
            </a:r>
            <a:r>
              <a:rPr lang="pl-PL" dirty="0" err="1"/>
              <a:t>generation</a:t>
            </a:r>
            <a:endParaRPr lang="pl-PL" dirty="0"/>
          </a:p>
          <a:p>
            <a:r>
              <a:rPr lang="pl-PL" dirty="0" err="1"/>
              <a:t>Phase</a:t>
            </a:r>
            <a:r>
              <a:rPr lang="pl-PL" dirty="0"/>
              <a:t> 1 – Hedge </a:t>
            </a:r>
            <a:r>
              <a:rPr lang="pl-PL" dirty="0" err="1"/>
              <a:t>main</a:t>
            </a:r>
            <a:r>
              <a:rPr lang="pl-PL" dirty="0"/>
              <a:t> IRRBB </a:t>
            </a:r>
            <a:r>
              <a:rPr lang="pl-PL" dirty="0" err="1"/>
              <a:t>Risk</a:t>
            </a:r>
            <a:r>
              <a:rPr lang="pl-PL" dirty="0"/>
              <a:t> (</a:t>
            </a:r>
            <a:r>
              <a:rPr lang="pl-PL" dirty="0" err="1"/>
              <a:t>generating</a:t>
            </a:r>
            <a:r>
              <a:rPr lang="pl-PL" dirty="0"/>
              <a:t> IRS </a:t>
            </a:r>
            <a:r>
              <a:rPr lang="pl-PL" dirty="0" err="1"/>
              <a:t>transaction</a:t>
            </a:r>
            <a:r>
              <a:rPr lang="pl-PL" dirty="0"/>
              <a:t> </a:t>
            </a:r>
            <a:r>
              <a:rPr lang="pl-PL" dirty="0" err="1"/>
              <a:t>after</a:t>
            </a:r>
            <a:r>
              <a:rPr lang="pl-PL" dirty="0"/>
              <a:t> </a:t>
            </a:r>
            <a:r>
              <a:rPr lang="pl-PL" dirty="0" err="1"/>
              <a:t>simple</a:t>
            </a:r>
            <a:r>
              <a:rPr lang="pl-PL" dirty="0"/>
              <a:t> IR gap </a:t>
            </a:r>
            <a:r>
              <a:rPr lang="pl-PL" dirty="0" err="1"/>
              <a:t>measure</a:t>
            </a:r>
            <a:r>
              <a:rPr lang="pl-PL" dirty="0"/>
              <a:t> </a:t>
            </a:r>
            <a:r>
              <a:rPr lang="pl-PL" dirty="0" err="1"/>
              <a:t>calculation</a:t>
            </a:r>
            <a:r>
              <a:rPr lang="pl-PL" dirty="0"/>
              <a:t>)</a:t>
            </a:r>
          </a:p>
          <a:p>
            <a:r>
              <a:rPr lang="pl-PL" dirty="0" err="1"/>
              <a:t>Phase</a:t>
            </a:r>
            <a:r>
              <a:rPr lang="pl-PL" dirty="0"/>
              <a:t> 2 – </a:t>
            </a:r>
            <a:r>
              <a:rPr lang="pl-PL" dirty="0" err="1"/>
              <a:t>Build</a:t>
            </a:r>
            <a:r>
              <a:rPr lang="pl-PL" dirty="0"/>
              <a:t> </a:t>
            </a:r>
            <a:r>
              <a:rPr lang="pl-PL" dirty="0" err="1"/>
              <a:t>liquidity</a:t>
            </a:r>
            <a:r>
              <a:rPr lang="pl-PL" dirty="0"/>
              <a:t> and </a:t>
            </a:r>
            <a:r>
              <a:rPr lang="pl-PL" dirty="0" err="1"/>
              <a:t>ineterst</a:t>
            </a:r>
            <a:r>
              <a:rPr lang="pl-PL" dirty="0"/>
              <a:t> </a:t>
            </a:r>
            <a:r>
              <a:rPr lang="pl-PL" dirty="0" err="1"/>
              <a:t>rate</a:t>
            </a:r>
            <a:r>
              <a:rPr lang="pl-PL" dirty="0"/>
              <a:t> </a:t>
            </a:r>
            <a:r>
              <a:rPr lang="pl-PL" dirty="0" err="1"/>
              <a:t>clculation</a:t>
            </a:r>
            <a:r>
              <a:rPr lang="pl-PL" dirty="0"/>
              <a:t> </a:t>
            </a:r>
            <a:r>
              <a:rPr lang="pl-PL" dirty="0" err="1"/>
              <a:t>methods</a:t>
            </a:r>
            <a:endParaRPr lang="pl-PL" dirty="0"/>
          </a:p>
          <a:p>
            <a:r>
              <a:rPr lang="pl-PL" dirty="0" err="1"/>
              <a:t>Phase</a:t>
            </a:r>
            <a:r>
              <a:rPr lang="pl-PL" dirty="0"/>
              <a:t> 3 – </a:t>
            </a:r>
            <a:r>
              <a:rPr lang="pl-PL" dirty="0" err="1"/>
              <a:t>Building</a:t>
            </a:r>
            <a:r>
              <a:rPr lang="pl-PL" dirty="0"/>
              <a:t> </a:t>
            </a:r>
            <a:r>
              <a:rPr lang="pl-PL" dirty="0" err="1"/>
              <a:t>balance</a:t>
            </a:r>
            <a:r>
              <a:rPr lang="pl-PL" dirty="0"/>
              <a:t> </a:t>
            </a:r>
            <a:r>
              <a:rPr lang="pl-PL" dirty="0" err="1"/>
              <a:t>sheet</a:t>
            </a:r>
            <a:r>
              <a:rPr lang="pl-PL" dirty="0"/>
              <a:t> </a:t>
            </a:r>
            <a:r>
              <a:rPr lang="pl-PL" dirty="0" err="1"/>
              <a:t>optimization</a:t>
            </a:r>
            <a:r>
              <a:rPr lang="pl-PL" dirty="0"/>
              <a:t> </a:t>
            </a:r>
            <a:r>
              <a:rPr lang="pl-PL" dirty="0" err="1"/>
              <a:t>infrastructure</a:t>
            </a:r>
            <a:r>
              <a:rPr lang="pl-PL" dirty="0"/>
              <a:t> (</a:t>
            </a:r>
            <a:r>
              <a:rPr lang="pl-PL" dirty="0" err="1"/>
              <a:t>actual</a:t>
            </a:r>
            <a:r>
              <a:rPr lang="pl-PL" dirty="0"/>
              <a:t> with </a:t>
            </a:r>
            <a:r>
              <a:rPr lang="pl-PL" dirty="0" err="1"/>
              <a:t>constant</a:t>
            </a:r>
            <a:r>
              <a:rPr lang="pl-PL" dirty="0"/>
              <a:t> </a:t>
            </a:r>
            <a:r>
              <a:rPr lang="pl-PL" dirty="0" err="1"/>
              <a:t>bs</a:t>
            </a:r>
            <a:r>
              <a:rPr lang="pl-PL" dirty="0"/>
              <a:t> and with </a:t>
            </a:r>
            <a:r>
              <a:rPr lang="pl-PL" dirty="0" err="1"/>
              <a:t>budgeting</a:t>
            </a:r>
            <a:r>
              <a:rPr lang="pl-PL" dirty="0"/>
              <a:t> </a:t>
            </a:r>
            <a:r>
              <a:rPr lang="pl-PL" dirty="0" err="1"/>
              <a:t>forecasting</a:t>
            </a:r>
            <a:r>
              <a:rPr lang="pl-PL" dirty="0"/>
              <a:t>)</a:t>
            </a:r>
          </a:p>
          <a:p>
            <a:r>
              <a:rPr lang="pl-PL" dirty="0" err="1"/>
              <a:t>Phase</a:t>
            </a:r>
            <a:r>
              <a:rPr lang="pl-PL" dirty="0"/>
              <a:t> 4 – </a:t>
            </a:r>
            <a:r>
              <a:rPr lang="pl-PL" dirty="0" err="1"/>
              <a:t>generate</a:t>
            </a:r>
            <a:r>
              <a:rPr lang="pl-PL" dirty="0"/>
              <a:t> </a:t>
            </a:r>
            <a:r>
              <a:rPr lang="pl-PL" dirty="0" err="1"/>
              <a:t>reports</a:t>
            </a:r>
            <a:r>
              <a:rPr lang="pl-PL" dirty="0"/>
              <a:t> for </a:t>
            </a:r>
            <a:r>
              <a:rPr lang="pl-PL" dirty="0" err="1"/>
              <a:t>changes</a:t>
            </a:r>
            <a:r>
              <a:rPr lang="pl-PL" dirty="0"/>
              <a:t> in </a:t>
            </a:r>
            <a:r>
              <a:rPr lang="pl-PL" dirty="0" err="1"/>
              <a:t>bs</a:t>
            </a:r>
            <a:r>
              <a:rPr lang="pl-PL" dirty="0"/>
              <a:t> </a:t>
            </a:r>
            <a:r>
              <a:rPr lang="pl-PL" dirty="0" err="1"/>
              <a:t>structure</a:t>
            </a:r>
            <a:r>
              <a:rPr lang="pl-PL" dirty="0"/>
              <a:t>  </a:t>
            </a:r>
            <a:r>
              <a:rPr lang="pl-PL" dirty="0" err="1"/>
              <a:t>recomendations</a:t>
            </a:r>
            <a:r>
              <a:rPr lang="pl-PL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389126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DAB6C-4676-D5C8-B03E-294094252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Phase</a:t>
            </a:r>
            <a:r>
              <a:rPr lang="pl-PL" dirty="0"/>
              <a:t> 0 -  SQL </a:t>
            </a:r>
            <a:r>
              <a:rPr lang="pl-PL" dirty="0" err="1"/>
              <a:t>schema</a:t>
            </a:r>
            <a:r>
              <a:rPr lang="pl-PL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848EEF-DB1B-3AA2-9750-0CA8A343F2AA}"/>
              </a:ext>
            </a:extLst>
          </p:cNvPr>
          <p:cNvSpPr/>
          <p:nvPr/>
        </p:nvSpPr>
        <p:spPr>
          <a:xfrm>
            <a:off x="5406620" y="3093004"/>
            <a:ext cx="1650830" cy="5216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transactions</a:t>
            </a:r>
            <a:endParaRPr lang="pl-PL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38E0FD9-84C9-850C-F14A-2FCE4586239C}"/>
              </a:ext>
            </a:extLst>
          </p:cNvPr>
          <p:cNvCxnSpPr>
            <a:stCxn id="4" idx="0"/>
          </p:cNvCxnSpPr>
          <p:nvPr/>
        </p:nvCxnSpPr>
        <p:spPr>
          <a:xfrm flipH="1" flipV="1">
            <a:off x="6222830" y="2233836"/>
            <a:ext cx="9205" cy="8591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CA2988F-CE8A-92EC-F632-7E30C5E4986F}"/>
              </a:ext>
            </a:extLst>
          </p:cNvPr>
          <p:cNvCxnSpPr>
            <a:cxnSpLocks/>
          </p:cNvCxnSpPr>
          <p:nvPr/>
        </p:nvCxnSpPr>
        <p:spPr>
          <a:xfrm flipH="1" flipV="1">
            <a:off x="4602685" y="2843436"/>
            <a:ext cx="813140" cy="2577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3CE23C8-B6A9-42D2-B6E7-39259EAA6CDF}"/>
              </a:ext>
            </a:extLst>
          </p:cNvPr>
          <p:cNvCxnSpPr>
            <a:cxnSpLocks/>
            <a:endCxn id="34" idx="3"/>
          </p:cNvCxnSpPr>
          <p:nvPr/>
        </p:nvCxnSpPr>
        <p:spPr>
          <a:xfrm flipH="1">
            <a:off x="4763205" y="3120508"/>
            <a:ext cx="859550" cy="1133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4779765-01AA-CF28-D881-CE2F7A9BB520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6480580" y="3614642"/>
            <a:ext cx="1086235" cy="1402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68C8802-E7DB-B3AF-1F44-6D08F193D3EC}"/>
              </a:ext>
            </a:extLst>
          </p:cNvPr>
          <p:cNvCxnSpPr>
            <a:cxnSpLocks/>
            <a:stCxn id="4" idx="3"/>
            <a:endCxn id="20" idx="1"/>
          </p:cNvCxnSpPr>
          <p:nvPr/>
        </p:nvCxnSpPr>
        <p:spPr>
          <a:xfrm flipV="1">
            <a:off x="7057450" y="3202446"/>
            <a:ext cx="1536274" cy="151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EF8AEEC3-690D-C735-18B9-697B0F344FCA}"/>
              </a:ext>
            </a:extLst>
          </p:cNvPr>
          <p:cNvSpPr/>
          <p:nvPr/>
        </p:nvSpPr>
        <p:spPr>
          <a:xfrm>
            <a:off x="8593724" y="2843436"/>
            <a:ext cx="1681514" cy="71801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dim_client</a:t>
            </a:r>
            <a:endParaRPr lang="pl-PL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3ABA3F-9C42-26B8-6929-3D076F046E4A}"/>
              </a:ext>
            </a:extLst>
          </p:cNvPr>
          <p:cNvSpPr/>
          <p:nvPr/>
        </p:nvSpPr>
        <p:spPr>
          <a:xfrm>
            <a:off x="5768698" y="1571050"/>
            <a:ext cx="1007479" cy="64127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loans</a:t>
            </a:r>
            <a:endParaRPr lang="pl-PL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D839981-3355-D878-B91D-14ECB39FACF3}"/>
              </a:ext>
            </a:extLst>
          </p:cNvPr>
          <p:cNvSpPr/>
          <p:nvPr/>
        </p:nvSpPr>
        <p:spPr>
          <a:xfrm>
            <a:off x="3443190" y="2125929"/>
            <a:ext cx="1223550" cy="64127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deposits</a:t>
            </a:r>
            <a:endParaRPr lang="pl-PL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25C882-881D-8396-B560-5D6CC28C4D96}"/>
              </a:ext>
            </a:extLst>
          </p:cNvPr>
          <p:cNvSpPr txBox="1"/>
          <p:nvPr/>
        </p:nvSpPr>
        <p:spPr>
          <a:xfrm>
            <a:off x="8593724" y="3761928"/>
            <a:ext cx="183902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Client_id</a:t>
            </a:r>
            <a:endParaRPr lang="pl-PL" dirty="0"/>
          </a:p>
          <a:p>
            <a:r>
              <a:rPr lang="pl-PL" dirty="0"/>
              <a:t>Client </a:t>
            </a:r>
            <a:r>
              <a:rPr lang="pl-PL" dirty="0" err="1"/>
              <a:t>name</a:t>
            </a:r>
            <a:endParaRPr lang="pl-PL" dirty="0"/>
          </a:p>
          <a:p>
            <a:r>
              <a:rPr lang="pl-PL" dirty="0"/>
              <a:t>Client </a:t>
            </a:r>
            <a:r>
              <a:rPr lang="pl-PL" dirty="0" err="1"/>
              <a:t>surname</a:t>
            </a:r>
            <a:endParaRPr lang="pl-PL" dirty="0"/>
          </a:p>
          <a:p>
            <a:r>
              <a:rPr lang="pl-PL" dirty="0" err="1"/>
              <a:t>Client_type</a:t>
            </a:r>
            <a:endParaRPr lang="pl-PL" dirty="0"/>
          </a:p>
          <a:p>
            <a:r>
              <a:rPr lang="pl-PL" dirty="0" err="1"/>
              <a:t>Client_region</a:t>
            </a:r>
            <a:endParaRPr lang="pl-PL" dirty="0"/>
          </a:p>
          <a:p>
            <a:r>
              <a:rPr lang="pl-PL" dirty="0" err="1"/>
              <a:t>Client_rating</a:t>
            </a:r>
            <a:endParaRPr lang="pl-PL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B4BE956-B29B-0FF9-32BE-17AAE76095A0}"/>
              </a:ext>
            </a:extLst>
          </p:cNvPr>
          <p:cNvSpPr txBox="1"/>
          <p:nvPr/>
        </p:nvSpPr>
        <p:spPr>
          <a:xfrm>
            <a:off x="1872650" y="2024417"/>
            <a:ext cx="15270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SA, CA, </a:t>
            </a:r>
            <a:r>
              <a:rPr lang="pl-PL" dirty="0" err="1"/>
              <a:t>term_depo</a:t>
            </a:r>
            <a:r>
              <a:rPr lang="pl-PL" dirty="0"/>
              <a:t>, bank depo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03C1CE-AA6C-B526-0E28-61C82C9036B8}"/>
              </a:ext>
            </a:extLst>
          </p:cNvPr>
          <p:cNvSpPr txBox="1"/>
          <p:nvPr/>
        </p:nvSpPr>
        <p:spPr>
          <a:xfrm>
            <a:off x="6806862" y="1320235"/>
            <a:ext cx="20446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Mortgages</a:t>
            </a:r>
            <a:r>
              <a:rPr lang="pl-PL" dirty="0"/>
              <a:t>, </a:t>
            </a:r>
            <a:r>
              <a:rPr lang="pl-PL" dirty="0" err="1"/>
              <a:t>cash</a:t>
            </a:r>
            <a:r>
              <a:rPr lang="pl-PL" dirty="0"/>
              <a:t> </a:t>
            </a:r>
            <a:r>
              <a:rPr lang="pl-PL" dirty="0" err="1"/>
              <a:t>loans</a:t>
            </a:r>
            <a:r>
              <a:rPr lang="pl-PL" dirty="0"/>
              <a:t>, </a:t>
            </a:r>
            <a:r>
              <a:rPr lang="pl-PL" dirty="0" err="1"/>
              <a:t>subordinated</a:t>
            </a:r>
            <a:r>
              <a:rPr lang="pl-PL" dirty="0"/>
              <a:t> </a:t>
            </a:r>
            <a:r>
              <a:rPr lang="pl-PL" dirty="0" err="1"/>
              <a:t>loans</a:t>
            </a:r>
            <a:r>
              <a:rPr lang="pl-PL" dirty="0"/>
              <a:t>(</a:t>
            </a:r>
            <a:r>
              <a:rPr lang="pl-PL" dirty="0" err="1"/>
              <a:t>liability</a:t>
            </a:r>
            <a:r>
              <a:rPr lang="pl-PL" dirty="0"/>
              <a:t>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E008E3-546B-6FF5-337C-CEBE4FF9BA36}"/>
              </a:ext>
            </a:extLst>
          </p:cNvPr>
          <p:cNvSpPr/>
          <p:nvPr/>
        </p:nvSpPr>
        <p:spPr>
          <a:xfrm>
            <a:off x="2872075" y="3824319"/>
            <a:ext cx="1891130" cy="85916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off_balance_commitment</a:t>
            </a:r>
            <a:endParaRPr lang="pl-PL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2297E2-C350-11A7-AB11-2E900C37F15B}"/>
              </a:ext>
            </a:extLst>
          </p:cNvPr>
          <p:cNvSpPr txBox="1"/>
          <p:nvPr/>
        </p:nvSpPr>
        <p:spPr>
          <a:xfrm>
            <a:off x="820139" y="3761928"/>
            <a:ext cx="18390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Letter_off_credit</a:t>
            </a:r>
            <a:r>
              <a:rPr lang="pl-PL" dirty="0"/>
              <a:t>, </a:t>
            </a:r>
            <a:r>
              <a:rPr lang="pl-PL" dirty="0" err="1"/>
              <a:t>guarentes</a:t>
            </a:r>
            <a:r>
              <a:rPr lang="pl-PL" dirty="0"/>
              <a:t>, </a:t>
            </a:r>
            <a:r>
              <a:rPr lang="pl-PL" dirty="0" err="1"/>
              <a:t>credit</a:t>
            </a:r>
            <a:r>
              <a:rPr lang="pl-PL" dirty="0"/>
              <a:t> lines,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604A122-7573-E1DE-B956-EB0D51718582}"/>
              </a:ext>
            </a:extLst>
          </p:cNvPr>
          <p:cNvSpPr/>
          <p:nvPr/>
        </p:nvSpPr>
        <p:spPr>
          <a:xfrm>
            <a:off x="6621250" y="5016958"/>
            <a:ext cx="1891130" cy="85916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Financal_instruments</a:t>
            </a:r>
            <a:endParaRPr lang="pl-PL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7FADC09-2354-C6E6-81D6-DB822B2F0F09}"/>
              </a:ext>
            </a:extLst>
          </p:cNvPr>
          <p:cNvSpPr txBox="1"/>
          <p:nvPr/>
        </p:nvSpPr>
        <p:spPr>
          <a:xfrm>
            <a:off x="3817640" y="6028526"/>
            <a:ext cx="1839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IRS, CIRS 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DCAF0ED-B858-736A-B612-997AF4AC0CEA}"/>
              </a:ext>
            </a:extLst>
          </p:cNvPr>
          <p:cNvSpPr/>
          <p:nvPr/>
        </p:nvSpPr>
        <p:spPr>
          <a:xfrm>
            <a:off x="3679621" y="5086670"/>
            <a:ext cx="1891130" cy="85916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derivatives</a:t>
            </a:r>
            <a:endParaRPr lang="pl-PL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4E7ADC4-A071-82D7-C279-7F3AEADF2835}"/>
              </a:ext>
            </a:extLst>
          </p:cNvPr>
          <p:cNvCxnSpPr>
            <a:cxnSpLocks/>
            <a:endCxn id="42" idx="0"/>
          </p:cNvCxnSpPr>
          <p:nvPr/>
        </p:nvCxnSpPr>
        <p:spPr>
          <a:xfrm flipH="1">
            <a:off x="4625186" y="3633995"/>
            <a:ext cx="1285141" cy="1452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11A6C47C-6051-62BB-E6DA-81399902518B}"/>
              </a:ext>
            </a:extLst>
          </p:cNvPr>
          <p:cNvSpPr txBox="1"/>
          <p:nvPr/>
        </p:nvSpPr>
        <p:spPr>
          <a:xfrm>
            <a:off x="7058473" y="6028526"/>
            <a:ext cx="1839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Bonds</a:t>
            </a:r>
            <a:r>
              <a:rPr lang="pl-PL" dirty="0"/>
              <a:t>, </a:t>
            </a:r>
            <a:r>
              <a:rPr lang="pl-PL" dirty="0" err="1"/>
              <a:t>stocks</a:t>
            </a:r>
            <a:endParaRPr lang="pl-PL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E8C7245-9B37-3721-ED9E-1B6CCE7D62ED}"/>
              </a:ext>
            </a:extLst>
          </p:cNvPr>
          <p:cNvSpPr/>
          <p:nvPr/>
        </p:nvSpPr>
        <p:spPr>
          <a:xfrm>
            <a:off x="9137866" y="418317"/>
            <a:ext cx="1891130" cy="85916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equity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EF41895-40AB-26B3-55C6-B17B336A665A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7057450" y="1277485"/>
            <a:ext cx="3025981" cy="18430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5576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3DAA-3B1E-4962-7236-BC221AD14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49151-49CD-4CE0-3DBC-E4ECAAAD7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Phase</a:t>
            </a:r>
            <a:r>
              <a:rPr lang="pl-PL" dirty="0"/>
              <a:t> 0 -  SQL </a:t>
            </a:r>
            <a:r>
              <a:rPr lang="pl-PL" dirty="0" err="1"/>
              <a:t>schema</a:t>
            </a:r>
            <a:r>
              <a:rPr lang="pl-PL" dirty="0"/>
              <a:t> </a:t>
            </a:r>
            <a:r>
              <a:rPr lang="pl-PL" dirty="0" err="1"/>
              <a:t>base</a:t>
            </a:r>
            <a:r>
              <a:rPr lang="pl-PL" dirty="0"/>
              <a:t> </a:t>
            </a:r>
            <a:r>
              <a:rPr lang="pl-PL" dirty="0" err="1"/>
              <a:t>example</a:t>
            </a:r>
            <a:r>
              <a:rPr lang="pl-PL" dirty="0"/>
              <a:t> (</a:t>
            </a:r>
            <a:r>
              <a:rPr lang="pl-PL" dirty="0" err="1"/>
              <a:t>only</a:t>
            </a:r>
            <a:r>
              <a:rPr lang="pl-PL" dirty="0"/>
              <a:t> PLN, IRS, no </a:t>
            </a:r>
            <a:r>
              <a:rPr lang="pl-PL" dirty="0" err="1"/>
              <a:t>off_balance</a:t>
            </a:r>
            <a:r>
              <a:rPr lang="pl-PL" dirty="0"/>
              <a:t>)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6380C3-A814-0E64-5D0A-18E5D376E1A5}"/>
              </a:ext>
            </a:extLst>
          </p:cNvPr>
          <p:cNvSpPr/>
          <p:nvPr/>
        </p:nvSpPr>
        <p:spPr>
          <a:xfrm>
            <a:off x="5406620" y="3093004"/>
            <a:ext cx="1650830" cy="5216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transactions</a:t>
            </a:r>
            <a:endParaRPr lang="pl-PL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70C88DD-7C67-1F35-CE7F-ED69105D8388}"/>
              </a:ext>
            </a:extLst>
          </p:cNvPr>
          <p:cNvCxnSpPr>
            <a:stCxn id="4" idx="0"/>
          </p:cNvCxnSpPr>
          <p:nvPr/>
        </p:nvCxnSpPr>
        <p:spPr>
          <a:xfrm flipH="1" flipV="1">
            <a:off x="6222830" y="2233836"/>
            <a:ext cx="9205" cy="8591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C8229F8-31BE-8C1D-61D4-741CE1639685}"/>
              </a:ext>
            </a:extLst>
          </p:cNvPr>
          <p:cNvCxnSpPr>
            <a:cxnSpLocks/>
          </p:cNvCxnSpPr>
          <p:nvPr/>
        </p:nvCxnSpPr>
        <p:spPr>
          <a:xfrm flipH="1" flipV="1">
            <a:off x="4602685" y="2843436"/>
            <a:ext cx="813140" cy="2577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83DF07-9EF5-4CD6-91B9-3CAD05050EA0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6480580" y="3614642"/>
            <a:ext cx="1086235" cy="1402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15DF34E-F19E-1A3E-C686-4D4BDB264858}"/>
              </a:ext>
            </a:extLst>
          </p:cNvPr>
          <p:cNvCxnSpPr>
            <a:cxnSpLocks/>
            <a:stCxn id="4" idx="3"/>
            <a:endCxn id="20" idx="1"/>
          </p:cNvCxnSpPr>
          <p:nvPr/>
        </p:nvCxnSpPr>
        <p:spPr>
          <a:xfrm flipV="1">
            <a:off x="7057450" y="3202446"/>
            <a:ext cx="1536274" cy="151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C182B464-E139-B91D-075D-76735DFA2B38}"/>
              </a:ext>
            </a:extLst>
          </p:cNvPr>
          <p:cNvSpPr/>
          <p:nvPr/>
        </p:nvSpPr>
        <p:spPr>
          <a:xfrm>
            <a:off x="8593724" y="2843436"/>
            <a:ext cx="1681514" cy="71801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dim_client</a:t>
            </a:r>
            <a:endParaRPr lang="pl-PL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3B6D5F-7F9E-3DE9-15D0-5C8534E6FDA5}"/>
              </a:ext>
            </a:extLst>
          </p:cNvPr>
          <p:cNvSpPr/>
          <p:nvPr/>
        </p:nvSpPr>
        <p:spPr>
          <a:xfrm>
            <a:off x="5768698" y="1571050"/>
            <a:ext cx="1007479" cy="64127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loans</a:t>
            </a:r>
            <a:endParaRPr lang="pl-PL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6C8E74-63A3-6141-1EED-81DBE253F725}"/>
              </a:ext>
            </a:extLst>
          </p:cNvPr>
          <p:cNvSpPr/>
          <p:nvPr/>
        </p:nvSpPr>
        <p:spPr>
          <a:xfrm>
            <a:off x="3443190" y="2125929"/>
            <a:ext cx="1223550" cy="64127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deposits</a:t>
            </a:r>
            <a:endParaRPr lang="pl-PL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55AADA-1E8F-F834-F5A0-9FA7B1BEA3A6}"/>
              </a:ext>
            </a:extLst>
          </p:cNvPr>
          <p:cNvSpPr txBox="1"/>
          <p:nvPr/>
        </p:nvSpPr>
        <p:spPr>
          <a:xfrm>
            <a:off x="8593724" y="3761928"/>
            <a:ext cx="183902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Client_id</a:t>
            </a:r>
            <a:endParaRPr lang="pl-PL" dirty="0"/>
          </a:p>
          <a:p>
            <a:r>
              <a:rPr lang="pl-PL" dirty="0"/>
              <a:t>Client </a:t>
            </a:r>
            <a:r>
              <a:rPr lang="pl-PL" dirty="0" err="1"/>
              <a:t>name</a:t>
            </a:r>
            <a:endParaRPr lang="pl-PL" dirty="0"/>
          </a:p>
          <a:p>
            <a:r>
              <a:rPr lang="pl-PL" dirty="0"/>
              <a:t>Client </a:t>
            </a:r>
            <a:r>
              <a:rPr lang="pl-PL" dirty="0" err="1"/>
              <a:t>surname</a:t>
            </a:r>
            <a:endParaRPr lang="pl-PL" dirty="0"/>
          </a:p>
          <a:p>
            <a:r>
              <a:rPr lang="pl-PL" dirty="0" err="1"/>
              <a:t>Client_type</a:t>
            </a:r>
            <a:endParaRPr lang="pl-PL" dirty="0"/>
          </a:p>
          <a:p>
            <a:r>
              <a:rPr lang="pl-PL" dirty="0" err="1"/>
              <a:t>Client_region</a:t>
            </a:r>
            <a:endParaRPr lang="pl-PL" dirty="0"/>
          </a:p>
          <a:p>
            <a:r>
              <a:rPr lang="pl-PL" dirty="0" err="1"/>
              <a:t>Client_rating</a:t>
            </a:r>
            <a:endParaRPr lang="pl-PL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A72F712-6C4A-7C84-715F-4DC44ECFFAB9}"/>
              </a:ext>
            </a:extLst>
          </p:cNvPr>
          <p:cNvSpPr txBox="1"/>
          <p:nvPr/>
        </p:nvSpPr>
        <p:spPr>
          <a:xfrm>
            <a:off x="1872650" y="2024417"/>
            <a:ext cx="15270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SA, CA, </a:t>
            </a:r>
            <a:r>
              <a:rPr lang="pl-PL" dirty="0" err="1"/>
              <a:t>term_depo</a:t>
            </a:r>
            <a:endParaRPr lang="pl-PL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143FAE-0891-1E3D-CAD9-19E223E12349}"/>
              </a:ext>
            </a:extLst>
          </p:cNvPr>
          <p:cNvSpPr txBox="1"/>
          <p:nvPr/>
        </p:nvSpPr>
        <p:spPr>
          <a:xfrm>
            <a:off x="6806862" y="1320235"/>
            <a:ext cx="20446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Mortgages</a:t>
            </a:r>
            <a:r>
              <a:rPr lang="pl-PL" dirty="0"/>
              <a:t>, </a:t>
            </a:r>
            <a:r>
              <a:rPr lang="pl-PL" dirty="0" err="1"/>
              <a:t>cash</a:t>
            </a:r>
            <a:r>
              <a:rPr lang="pl-PL" dirty="0"/>
              <a:t> </a:t>
            </a:r>
            <a:r>
              <a:rPr lang="pl-PL" dirty="0" err="1"/>
              <a:t>loans</a:t>
            </a:r>
            <a:endParaRPr lang="pl-PL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E136DB9-ACB3-4846-2845-FE563D55AEB0}"/>
              </a:ext>
            </a:extLst>
          </p:cNvPr>
          <p:cNvSpPr/>
          <p:nvPr/>
        </p:nvSpPr>
        <p:spPr>
          <a:xfrm>
            <a:off x="6621250" y="5016958"/>
            <a:ext cx="1891130" cy="85916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Financal_instruments</a:t>
            </a:r>
            <a:endParaRPr lang="pl-PL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9B0BCD-2C1A-027A-7268-34BDB0A96090}"/>
              </a:ext>
            </a:extLst>
          </p:cNvPr>
          <p:cNvSpPr txBox="1"/>
          <p:nvPr/>
        </p:nvSpPr>
        <p:spPr>
          <a:xfrm>
            <a:off x="3259181" y="5454757"/>
            <a:ext cx="1839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IRS 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0025CDF-360A-4BCC-238B-BB9E27722F67}"/>
              </a:ext>
            </a:extLst>
          </p:cNvPr>
          <p:cNvSpPr/>
          <p:nvPr/>
        </p:nvSpPr>
        <p:spPr>
          <a:xfrm>
            <a:off x="2701807" y="4457152"/>
            <a:ext cx="1891130" cy="85916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derivatives</a:t>
            </a:r>
            <a:endParaRPr lang="pl-PL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DEFAD39-305A-0FA1-EFF2-4FE384F99858}"/>
              </a:ext>
            </a:extLst>
          </p:cNvPr>
          <p:cNvCxnSpPr>
            <a:cxnSpLocks/>
            <a:stCxn id="4" idx="1"/>
            <a:endCxn id="42" idx="0"/>
          </p:cNvCxnSpPr>
          <p:nvPr/>
        </p:nvCxnSpPr>
        <p:spPr>
          <a:xfrm flipH="1">
            <a:off x="3647372" y="3353823"/>
            <a:ext cx="1759248" cy="1103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1A3B467C-DC13-7C90-BDC8-5C6544D45E30}"/>
              </a:ext>
            </a:extLst>
          </p:cNvPr>
          <p:cNvSpPr txBox="1"/>
          <p:nvPr/>
        </p:nvSpPr>
        <p:spPr>
          <a:xfrm>
            <a:off x="7058473" y="6028526"/>
            <a:ext cx="1839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Bonds</a:t>
            </a:r>
            <a:endParaRPr lang="pl-PL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B553589-AA26-BC93-3416-E2F2AB7C5849}"/>
              </a:ext>
            </a:extLst>
          </p:cNvPr>
          <p:cNvSpPr/>
          <p:nvPr/>
        </p:nvSpPr>
        <p:spPr>
          <a:xfrm>
            <a:off x="9319925" y="1328179"/>
            <a:ext cx="1891130" cy="85916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equity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5106EB1-57EA-3EDE-4EB2-71555E035098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7088135" y="2187347"/>
            <a:ext cx="3177355" cy="933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931D084-1643-0FD1-81FA-4A06A2151194}"/>
              </a:ext>
            </a:extLst>
          </p:cNvPr>
          <p:cNvSpPr txBox="1"/>
          <p:nvPr/>
        </p:nvSpPr>
        <p:spPr>
          <a:xfrm>
            <a:off x="10319350" y="2347582"/>
            <a:ext cx="18390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Issued</a:t>
            </a:r>
            <a:r>
              <a:rPr lang="pl-PL" dirty="0"/>
              <a:t> </a:t>
            </a:r>
            <a:r>
              <a:rPr lang="pl-PL" dirty="0" err="1"/>
              <a:t>bonds</a:t>
            </a:r>
            <a:r>
              <a:rPr lang="pl-PL" dirty="0"/>
              <a:t>, </a:t>
            </a:r>
            <a:r>
              <a:rPr lang="pl-PL" dirty="0" err="1"/>
              <a:t>Issued</a:t>
            </a:r>
            <a:r>
              <a:rPr lang="pl-PL" dirty="0"/>
              <a:t> </a:t>
            </a:r>
            <a:r>
              <a:rPr lang="pl-PL" dirty="0" err="1"/>
              <a:t>stocks</a:t>
            </a:r>
            <a:r>
              <a:rPr lang="pl-PL" dirty="0"/>
              <a:t>, </a:t>
            </a:r>
            <a:r>
              <a:rPr lang="pl-PL" dirty="0" err="1"/>
              <a:t>retained</a:t>
            </a:r>
            <a:r>
              <a:rPr lang="pl-PL" dirty="0"/>
              <a:t> </a:t>
            </a:r>
            <a:r>
              <a:rPr lang="pl-PL" dirty="0" err="1"/>
              <a:t>earnings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0226000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206</Words>
  <Application>Microsoft Office PowerPoint</Application>
  <PresentationFormat>Widescreen</PresentationFormat>
  <Paragraphs>46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Bank project</vt:lpstr>
      <vt:lpstr>Schema</vt:lpstr>
      <vt:lpstr>Phase 0 -  SQL schema </vt:lpstr>
      <vt:lpstr>Phase 0 -  SQL schema base example (only PLN, IRS, no off_balance)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Maciej Dzimira</dc:creator>
  <cp:lastModifiedBy>Maciej Dzimira</cp:lastModifiedBy>
  <cp:revision>3</cp:revision>
  <dcterms:created xsi:type="dcterms:W3CDTF">2025-07-31T10:48:47Z</dcterms:created>
  <dcterms:modified xsi:type="dcterms:W3CDTF">2025-08-04T21:56:22Z</dcterms:modified>
</cp:coreProperties>
</file>